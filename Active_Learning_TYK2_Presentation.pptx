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BD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for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Property Prediction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9B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TYK2 DDG — Finding Better Binders, Faster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2286000" cy="27432"/>
          </a:xfrm>
          <a:prstGeom prst="rect">
            <a:avLst/>
          </a:prstGeom>
          <a:solidFill>
            <a:srgbClr val="19BD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for Lindsey  •  HERMES Agent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9BD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8F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Experiments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assays cost 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resources per compound.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millions is infeasible.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8F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Chemical Space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6616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libraries contain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640,000+ candidates.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ones do we test first?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71600"/>
            <a:ext cx="822960" cy="822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8F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Good Binders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080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~5% of compounds 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binders. Finding them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like a needle in a haystack.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28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Active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417320"/>
            <a:ext cx="548640" cy="548640"/>
          </a:xfrm>
          <a:prstGeom prst="ellipse">
            <a:avLst/>
          </a:prstGeom>
          <a:solidFill>
            <a:srgbClr val="19BDA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/ Chemprop / RF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labeled data so far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4288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34640" y="12801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19BDA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 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DDG + uncertainty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unlabeled molecule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212080" y="12801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417320"/>
            <a:ext cx="548640" cy="548640"/>
          </a:xfrm>
          <a:prstGeom prst="ellipse">
            <a:avLst/>
          </a:prstGeom>
          <a:solidFill>
            <a:srgbClr val="8A2283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 &amp; Pick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= mean + beta × std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top-30 most promising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0" y="12801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1417320"/>
            <a:ext cx="548640" cy="548640"/>
          </a:xfrm>
          <a:prstGeom prst="ellipse">
            <a:avLst/>
          </a:prstGeom>
          <a:solidFill>
            <a:srgbClr val="8A228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Measure &amp; Add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binding assay on picks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results to labeled set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8A8888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69080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17320" y="3977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 cycles (360 measurements), we find 80%+ of the top binders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only 35% with random sampling. Same budget, 2.3× better results.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TYK2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1,010 compounds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TYK2 binding free energy (DDG)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640,000+ virtual library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1sub pool — untested candidates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DDG: lower = better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binders have most negative DDG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8F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TYK2?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16459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Well-characterized kinase target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TYK2 is a validated drug target for autoimmune diseases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chemical space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span broad range of scaffolds and potencies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benchmark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dataset for reproducible comparison across methods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active learning to find the best binders (lowest DDG)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640K virtual library using only ~360 measurements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9BD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19BD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801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B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5146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ECFP4 fingerprints (Morgan, radius 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Tanimoto kernel (Jaccard similarity)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acquisition: mean + β · std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~2 min for full AL run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interpretable exploration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Chemprop MVE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29000" y="25146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Message-passing neural network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ensemble + MVE loss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mean AND variance directly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min for full AL run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predictive accuracy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8A228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8016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2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CheMeleon + RF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25146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(Chemprop v2.2+)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2048-dim learned fingerprints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tree-variance UCB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R²=0.575 — best overall predictor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library screening accuracy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28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Learning Protocol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508760" cy="1188720"/>
          </a:xfrm>
          <a:prstGeom prst="rect">
            <a:avLst>
              <a:gd name="adj" fmla="val 6154"/>
            </a:avLst>
          </a:prstGeom>
          <a:solidFill>
            <a:srgbClr val="8A888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43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7452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88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21408" y="1097280"/>
            <a:ext cx="1508760" cy="1188720"/>
          </a:xfrm>
          <a:prstGeom prst="rect">
            <a:avLst>
              <a:gd name="adj" fmla="val 6154"/>
            </a:avLst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2167128" y="1143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67128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0168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88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77056" y="1097280"/>
            <a:ext cx="1508760" cy="1188720"/>
          </a:xfrm>
          <a:prstGeom prst="rect">
            <a:avLst>
              <a:gd name="adj" fmla="val 6154"/>
            </a:avLst>
          </a:prstGeom>
          <a:solidFill>
            <a:srgbClr val="19BDAA"/>
          </a:solidFill>
          <a:ln/>
        </p:spPr>
      </p:sp>
      <p:sp>
        <p:nvSpPr>
          <p:cNvPr id="13" name="Text 11"/>
          <p:cNvSpPr/>
          <p:nvPr/>
        </p:nvSpPr>
        <p:spPr>
          <a:xfrm>
            <a:off x="3922776" y="1143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22776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85816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88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32704" y="1097280"/>
            <a:ext cx="1508760" cy="1188720"/>
          </a:xfrm>
          <a:prstGeom prst="rect">
            <a:avLst>
              <a:gd name="adj" fmla="val 6154"/>
            </a:avLst>
          </a:prstGeom>
          <a:solidFill>
            <a:srgbClr val="8A2283"/>
          </a:solidFill>
          <a:ln/>
        </p:spPr>
      </p:sp>
      <p:sp>
        <p:nvSpPr>
          <p:cNvPr id="17" name="Text 15"/>
          <p:cNvSpPr/>
          <p:nvPr/>
        </p:nvSpPr>
        <p:spPr>
          <a:xfrm>
            <a:off x="5678424" y="1143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×8 more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78424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41464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88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88352" y="1097280"/>
            <a:ext cx="1508760" cy="1188720"/>
          </a:xfrm>
          <a:prstGeom prst="rect">
            <a:avLst>
              <a:gd name="adj" fmla="val 6154"/>
            </a:avLst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7434072" y="1143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total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34072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56032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Acquisition Strategies Tested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8F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random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8F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ucb-balanced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explore / 50% exploit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8F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ucb-alternate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Alternating explore/exploit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8F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performer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8F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ucb-sandwich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→ exploit → explore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runner-up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8F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ucb-explore-heavy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explore / 30% exploit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diversity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8F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ucb-exploit-heavy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explore / 70% exploit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exploitation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8F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ucb-gradual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→ UCB → exploit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transition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9BD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Protocol: UCB-Alternate</a:t>
            </a:r>
            <a:endParaRPr lang="en-US" sz="3000" dirty="0"/>
          </a:p>
        </p:txBody>
      </p:sp>
      <p:pic>
        <p:nvPicPr>
          <p:cNvPr id="4" name="Image 0" descr="E:\explainable_AL_1\results\tyk2_protocol_comparison\plots\protocol_recall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51206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005840"/>
            <a:ext cx="3200400" cy="2926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3"/>
          <p:cNvSpPr/>
          <p:nvPr/>
        </p:nvSpPr>
        <p:spPr>
          <a:xfrm>
            <a:off x="5852160" y="1097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B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ucb-alternate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9B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Tanimoto kernel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94944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94944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94944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40/50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94944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Top-5% recall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062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UCB-Alternate finds 40/50 top binders — 2.3× more than random (18/50)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same 360 measurements. Alternating explore/exploit is key.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28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Leaderboard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650 truly unseen compounds after 10 AL cycles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463040"/>
                <a:gridCol w="109728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Top-5%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CheMeleon + 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/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Chemprop MVE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/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(Tanimoto)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/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 /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743200"/>
            <a:ext cx="8229600" cy="45720"/>
          </a:xfrm>
          <a:prstGeom prst="rect">
            <a:avLst/>
          </a:prstGeom>
          <a:solidFill>
            <a:srgbClr val="19BDAA"/>
          </a:solidFill>
          <a:ln/>
        </p:spPr>
      </p:sp>
      <p:pic>
        <p:nvPicPr>
          <p:cNvPr id="7" name="Image 0" descr="E:\explainable_AL_1\results\chemeleon_rf_al_v2\plots\scatter_all_mod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926080"/>
            <a:ext cx="85953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28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CheMeleon + RF: Best Overall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2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special?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pretrained on ~8M molecules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2048-dim learned fingerprints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subtle chemical patterns ECFP misses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tree-variance UCB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R²=0.575 — best generalization by far</a:t>
            </a:r>
            <a:endParaRPr lang="en-US" sz="1200" dirty="0"/>
          </a:p>
        </p:txBody>
      </p:sp>
      <p:pic>
        <p:nvPicPr>
          <p:cNvPr id="7" name="Image 0" descr="E:\explainable_AL_1\results\chemeleon_rf_al_v2\plots\fina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05840"/>
            <a:ext cx="41148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B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0.575  ·  Spearman ρ = 0.707  ·  RMSE = 1.37  ·  Top-5% recall: 39/50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Selector ≠ Predictor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19BD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8F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is the better SELECTOR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GP's Tanimoto + RBF kernel explores diverse chemical space effectively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(std) is well-calibrated — high in unexplored regions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picks: RF trains to R²=0.55 on 650 unseen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8A228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is the better PREDICTOR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1874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on CheMeleon fingerprints: R²=0.575 — best model overall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RF's own AL (tree-variance UCB): only R²=0.28 (poor explorer)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combo: GP picks → RF predicts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749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B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that explores best is NOT the same as the model that predicts best.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25880" y="4114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GP's well-calibrated uncertainty makes it the ideal exploration engine. Feed GP's picks 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for the most accurate predictions. This decoupling is a publishable finding.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9BD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Your data. Three models. Seven protocols.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23774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start: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al_for_everyone.py --model gp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--protocol ucb-alternate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 my_data.csv --library virtual.csv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use a config file: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9B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al_for_everyone.py --config config.txt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188720"/>
            <a:ext cx="3017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28016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models: gp, rf, chemeleon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protocols: random → ucb-*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GP kernels: tanimoto, rbf, matern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screening built-in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Plots: recall curves + scatter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export: selected + predictions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B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github.com/caithmac/al-for-everyone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0" y="3794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self-contained. Zero imports from external codebase.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Chemists can download and run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9BD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54864"/>
          </a:xfrm>
          <a:prstGeom prst="rect">
            <a:avLst/>
          </a:prstGeom>
          <a:solidFill>
            <a:srgbClr val="8A228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2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CheMeleon + RF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R²=0.575, recall 39/50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library screening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chemprop &gt;= 2.2.0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conda create -n chemeleon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97280"/>
            <a:ext cx="2606040" cy="54864"/>
          </a:xfrm>
          <a:prstGeom prst="rect">
            <a:avLst/>
          </a:prstGeom>
          <a:solidFill>
            <a:srgbClr val="19BDA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801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B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Explorer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83280" y="23774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+ Tanimoto + ucb-alt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R²=0.283, recall 41/50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uncertainty calibration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~2 min full run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interpretability matters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097280"/>
            <a:ext cx="2606040" cy="54864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2801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23774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config (GP defaults)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provide your CSV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torch gpytorch rdkit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al_for_everyone.py \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--data my_data.csv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BD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0" y="2560320"/>
            <a:ext cx="1828800" cy="27432"/>
          </a:xfrm>
          <a:prstGeom prst="rect">
            <a:avLst/>
          </a:prstGeom>
          <a:solidFill>
            <a:srgbClr val="19BD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find better binders.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3611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B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github.com/caithmac/al-for-everyone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6888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al_for_everyone.py · CheMeleon + RF · GP + Tanimoto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HERMES Agent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Learning for Molecular Property Prediction</dc:title>
  <dc:subject>PptxGenJS Presentation</dc:subject>
  <dc:creator>Hermes Agent</dc:creator>
  <cp:lastModifiedBy>Hermes Agent</cp:lastModifiedBy>
  <cp:revision>1</cp:revision>
  <dcterms:created xsi:type="dcterms:W3CDTF">2026-05-21T11:49:23Z</dcterms:created>
  <dcterms:modified xsi:type="dcterms:W3CDTF">2026-05-21T11:49:23Z</dcterms:modified>
</cp:coreProperties>
</file>